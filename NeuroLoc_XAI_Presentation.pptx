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005840"/>
            <a:ext cx="9448495" cy="4846320"/>
          </a:xfrm>
          <a:prstGeom prst="roundRect">
            <a:avLst/>
          </a:prstGeom>
          <a:solidFill>
            <a:srgbClr val="0B1B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ADVANCED AI LAB • EXPERIMENT 1 • 25 COMPREHENSIVE TESTS VERIFIED</a:t>
            </a:r>
          </a:p>
          <a:p>
            <a:pPr algn="ctr">
              <a:spcBef>
                <a:spcPts val="1400"/>
              </a:spcBef>
              <a:defRPr sz="4000" b="1">
                <a:solidFill>
                  <a:srgbClr val="FFFFFF"/>
                </a:solidFill>
                <a:latin typeface="Segoe UI"/>
              </a:defRPr>
            </a:pPr>
            <a:r>
              <a:t>NeuroLoc-XAI</a:t>
            </a:r>
          </a:p>
          <a:p>
            <a:pPr algn="ctr">
              <a:spcBef>
                <a:spcPts val="1000"/>
              </a:spcBef>
              <a:defRPr sz="1500">
                <a:solidFill>
                  <a:srgbClr val="38BDF8"/>
                </a:solidFill>
                <a:latin typeface="Segoe UI"/>
              </a:defRPr>
            </a:pPr>
            <a:r>
              <a:t>Explainable Multi-Class Brain Tumor Diagnosis with Skull-Constrained</a:t>
            </a:r>
            <a:br/>
            <a:r>
              <a:t>Anatomical Localization &amp; 2D Spatial Indication Triage Engine</a:t>
            </a:r>
          </a:p>
          <a:p>
            <a:pPr algn="ctr">
              <a:spcBef>
                <a:spcPts val="24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Cranial Vault Masking  •  2D (X, Y) Spatial Triage Map  •  Bayesian MC Dropout  •  88.9% Train / 79.8% Val Acc</a:t>
            </a:r>
          </a:p>
          <a:p>
            <a:pPr algn="ctr">
              <a:spcBef>
                <a:spcPts val="2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 • JAIN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THE CLINICAL DILEMMA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Standard Medical AI Vision Models Fail in Hospitals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Critical limitations that prevent deep learning classifiers from being deployed safely in patient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E5FF"/>
                </a:solidFill>
              </a:defRPr>
            </a:pPr>
            <a:r>
              <a:t>01. OUTSIDE-THE-HEAD ARTIFACTS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Spurious Edge Activations:</a:t>
            </a:r>
            <a:br/>
            <a:r>
              <a:t>Standard Grad-CAM frequently highlights black background space or scanner corners outside the skull.</a:t>
            </a:r>
            <a:br/>
            <a:br/>
            <a:r>
              <a:t>• Zero Anatomical Bounding:</a:t>
            </a:r>
            <a:br/>
            <a:r>
              <a:t>Without cranial vault masking, models hallucinate tumor locations in non-brain tissue.</a:t>
            </a:r>
            <a:br/>
            <a:br/>
            <a:r>
              <a:t>• Loss of Clinical Trust:</a:t>
            </a:r>
            <a:br/>
            <a:r>
              <a:t>A doctor immediately rejects any AI that identifies a brain tumor floating outside the patient's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7171"/>
                </a:solidFill>
              </a:defRPr>
            </a:pPr>
            <a:r>
              <a:t>02. DANGEROUS OVERCONFIDENCE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Softmax Overconfidence:</a:t>
            </a:r>
            <a:br/>
            <a:r>
              <a:t>Standard deterministic models output near 100% probabilities even on corrupted or out-of-distribution scans.</a:t>
            </a:r>
            <a:br/>
            <a:br/>
            <a:r>
              <a:t>• Incapable of Expressing Doubt:</a:t>
            </a:r>
            <a:br/>
            <a:r>
              <a:t>When a scan sits on the borderline between tumor classes, the model blindly gambles.</a:t>
            </a:r>
            <a:br/>
            <a:br/>
            <a:r>
              <a:t>• No Patient Safety Triage:</a:t>
            </a:r>
            <a:br/>
            <a:r>
              <a:t>No automated mechanism to flag ambiguous cases for urgent human radiologist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03. BENCHMARK DATA LEAKAGE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35.3% Test Contamination:</a:t>
            </a:r>
            <a:br/>
            <a:r>
              <a:t>Public Kaggle MRI datasets contain hundreds of duplicated/near-identical patient slices across Train and Test splits.</a:t>
            </a:r>
            <a:br/>
            <a:br/>
            <a:r>
              <a:t>• Inflated Academic Claims:</a:t>
            </a:r>
            <a:br/>
            <a:r>
              <a:t>Published papers report &gt;99% accuracy because models merely memorize test slices.</a:t>
            </a:r>
            <a:br/>
            <a:br/>
            <a:r>
              <a:t>• Real-World Collapse:</a:t>
            </a:r>
            <a:br/>
            <a:r>
              <a:t>Models collapse when faced with genuine unseen hospital scans.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THE NEUROLOC-XAI SOLUTION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Four Integrated Pillars for Clinical-Grade Diagnostic AI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Transforming medical imaging with cranial skull masking, 2D spatial triage graphs, and Bayesian reasoning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E5FF"/>
                </a:solidFill>
              </a:defRPr>
            </a:pPr>
            <a:r>
              <a:t>1. CRANIAL BRAIN VAULT MASKING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Extracts the intracranial skull contour and brain parenchyma boundary.</a:t>
            </a:r>
            <a:br/>
            <a:r>
              <a:t>• Mathematically zeroes out all activations outside the skull, guaranteeing 100% of heatmaps and bounding boxes stay strictly inside the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2. 2D (X, Y) SPATIAL TRIAGE GRAPH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Plots tumor location in a 2D axial cranial cross-section showing lobar sectors.</a:t>
            </a:r>
            <a:br/>
            <a:r>
              <a:t>• Displays tumor centroid, confidence radius, and 3-Tier triage color code (Green/Yellow/Red) for instant clinical orientation.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3. BAYESIAN MC DROPOUT UNCERTAINTY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Executes T=30 stochastic Monte Carlo passes during inference.</a:t>
            </a:r>
            <a:br/>
            <a:r>
              <a:t>• Computes predictive mean, epistemic variance (sigma^2), and Shannon entropy to catch borderline decision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4B8A6"/>
                </a:solidFill>
              </a:defRPr>
            </a:pPr>
            <a:r>
              <a:t>4. HIGH-ACCURACY PREPROCESSING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Corrected input scaling matching EfficientNet's internal normalization.</a:t>
            </a:r>
            <a:br/>
            <a:r>
              <a:t>• Reached 88.9% training accuracy and 79.8% validation accuracy with genuine discriminative tumor feature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SYSTEM METHODOLOGY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Deep Learning Architecture &amp; Pipeline Flow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Multi-stage workflow executing ingestion, skull vault masking, Bayesian sampling, and 2D spatial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228600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pelin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0545775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931920"/>
            <a:ext cx="3429000" cy="2377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A. SKULL VAULT EXTRACTION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Extreme contour skull-crop removes black borders.</a:t>
            </a:r>
            <a:br/>
            <a:r>
              <a:t>• Brain parenchyma binary mask encapsulates the intracranial cavity to bound all future heatmaps inside the 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3931920"/>
            <a:ext cx="3429000" cy="2377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406908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E5FF"/>
                </a:solidFill>
              </a:defRPr>
            </a:pPr>
            <a:r>
              <a:t>B. BAYESIAN MC DROPOUT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EfficientNetB0 backbone + custom serialized MCDropout layers.</a:t>
            </a:r>
            <a:br/>
            <a:r>
              <a:t>• T=30 forward passes run with active dropout to produce posterior probability distributions and epistemic variance.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3931920"/>
            <a:ext cx="3429000" cy="2377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406908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C. 2D SPATIAL TRIAGE GRAPH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Heatmap multiplied by cranial mask to strictly enforce in-head localization.</a:t>
            </a:r>
            <a:br/>
            <a:r>
              <a:t>• Centroid (X, Y) plotted on 2D axial cranial silhouette with 3-tier triage 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PATIENT CASE STUDY • STEP 1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Clinical Ingestion, Skull Contour Extraction &amp; Cranial Masking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Examining Patient Case PATIENT-TE-PI_1: Base scan preparation with intracranial vault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11480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E5FF"/>
                </a:solidFill>
              </a:defRPr>
            </a:pPr>
            <a:r>
              <a:t>CASE METADATA &amp; PROTOCOL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Accession ID: PATIENT-TE-PI_1</a:t>
            </a:r>
            <a:br/>
            <a:r>
              <a:t>• Scan Protocol: Axial T1-Gd Contrast</a:t>
            </a:r>
            <a:br/>
            <a:r>
              <a:t>• Diagnostic Query: Suspected Pituitary Mass</a:t>
            </a:r>
            <a:br/>
            <a:r>
              <a:t>• Image Source: Nickparvar Hospital Benchmark</a:t>
            </a:r>
            <a:br/>
            <a:br/>
            <a:r>
              <a:t>Clinical Challenge:</a:t>
            </a:r>
            <a:br/>
            <a:r>
              <a:t>Raw MRI slices contain scanner background noise and dark margins. Without masking, gradient models fire on corners outside the head.</a:t>
            </a:r>
            <a:br/>
            <a:br/>
            <a:r>
              <a:t>Intracranial Vault Solution:</a:t>
            </a:r>
            <a:br/>
            <a:r>
              <a:t>1. Extreme contour detection identifies the exact boundary of the skull.</a:t>
            </a:r>
            <a:br/>
            <a:r>
              <a:t>2. Ben Graham crop eliminates black borders.</a:t>
            </a:r>
            <a:br/>
            <a:r>
              <a:t>3. Binary cranial mask enforces that 100% of future XAI heatmaps stay strictly inside the brain.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301752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tient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01168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7800" y="48463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1. Raw Axial MRI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Original scan showing background margins and low soft-tissue contrast.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554480"/>
            <a:ext cx="301752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tient_pre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011680"/>
            <a:ext cx="27432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9640" y="48463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2. Skull-Crop &amp; Vault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Tightly cropped cranial vault isolating brain tissue in range [0, 255].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PATIENT CASE STUDY • STEP 2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Quantifying Model Uncertainty via Monte Carlo Dropout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Testing the scan across 30 stochastic forward passes to evaluate confidence vs ignorance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ient_mc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66928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554480"/>
            <a:ext cx="4510735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73736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E5FF"/>
                </a:solidFill>
              </a:defRPr>
            </a:pPr>
            <a:r>
              <a:t>BAYESIAN QUANTIFICATION METRICS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Case: PATIENT-TE-PI_1 (T=30 Passes)</a:t>
            </a:r>
            <a:br/>
            <a:br/>
            <a:r>
              <a:t>• Predicted Pathology: PITUITARY</a:t>
            </a:r>
            <a:br/>
            <a:r>
              <a:t>• Bayesian Posterior Mean: 80.44%</a:t>
            </a:r>
            <a:br/>
            <a:r>
              <a:t>• 95% Credible Interval: [50.46%, 96.88%]</a:t>
            </a:r>
            <a:br/>
            <a:r>
              <a:t>• Epistemic Variance (sigma^2): 0.01951</a:t>
            </a:r>
            <a:br/>
            <a:r>
              <a:t>• Shannon Entropy H(y|x): 0.6190 nats</a:t>
            </a:r>
            <a:br/>
            <a:r>
              <a:t>• Mutual Information: 0.0894 nats</a:t>
            </a:r>
            <a:br/>
            <a:br/>
            <a:r>
              <a:t>Clinical Insight:</a:t>
            </a:r>
            <a:br/>
            <a:r>
              <a:t>With proper [0, 255] scaling, the model confidently detects Pituitary pathology (80.44% mean).</a:t>
            </a:r>
            <a:br/>
            <a:br/>
            <a:r>
              <a:t>Because the variance sigma^2 (0.0195) is slightly above the strict safety threshold (0.015), the system triggers safety flags, ensuring doctors review the borderline aspects.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PATIENT CASE STUDY • STEP 3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Skull-Constrained Grad-CAM++ &amp; In-Head Bounding Box Localization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Guaranteed containment within brain parenchyma with automated anatomical narrative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01752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ien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754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E5FF"/>
                </a:solidFill>
              </a:defRPr>
            </a:pPr>
            <a:r>
              <a:t>In-Head Heatmap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Masked by cranial vault: 0.0 activation outside skull.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554480"/>
            <a:ext cx="301752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tient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920240"/>
            <a:ext cx="27432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60520" y="4754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In-Head Localization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BBox: [131, 22, 223, 182]</a:t>
            </a:r>
            <a:br/>
            <a:r>
              <a:t>Centroid: (x=186, y=88) inside 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54480"/>
            <a:ext cx="4144975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73736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ANATOMICAL RULE ENGINE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Radiological Mapping Output:</a:t>
            </a:r>
            <a:br/>
            <a:br/>
            <a:r>
              <a:t>• Laterality: Left Hemisphere</a:t>
            </a:r>
            <a:br/>
            <a:r>
              <a:t>  (Observing clinical mirror convention: Image Right = Patient Left)</a:t>
            </a:r>
            <a:br/>
            <a:br/>
            <a:r>
              <a:t>• Cranial Compartment:</a:t>
            </a:r>
            <a:br/>
            <a:r>
              <a:t>  Sellar / Suprasellar Cistern</a:t>
            </a:r>
            <a:br/>
            <a:br/>
            <a:r>
              <a:t>• Regional Lobar Zone:</a:t>
            </a:r>
            <a:br/>
            <a:r>
              <a:t>  Hypophyseal Fossa (Sella Turcica)</a:t>
            </a:r>
            <a:br/>
            <a:br/>
            <a:r>
              <a:t>• Verified In-Head Bounding Box:</a:t>
            </a:r>
            <a:br/>
            <a:r>
              <a:t>  [xmin=131, ymin=22, xmax=223, ymax=182]</a:t>
            </a:r>
            <a:br/>
            <a:r>
              <a:t>  Centroid (x=186, y=88) strictly inside brain vault.</a:t>
            </a:r>
            <a:br/>
            <a:br/>
            <a:r>
              <a:t>• Clinical Narrative:</a:t>
            </a:r>
            <a:br/>
            <a:r>
              <a:t>  "Focal space-occupying lesion localized to the Sellar / Suprasellar Cistern with sellar expansion. Classic imaging hallmark of Pituitary Macroadenoma."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PATIENT CASE STUDY • STEP 4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2D Anatomical Spatial Indication &amp; Hospital Triage Map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Plotting tumor coordinates in 2D cranial space with 3-Tier triage status and clinical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ient_spatial_2d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47548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554480"/>
            <a:ext cx="5425135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373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7171"/>
                </a:solidFill>
              </a:defRPr>
            </a:pPr>
            <a:r>
              <a:t>2D SPATIAL READOUT &amp; 3-TIER TRIAGE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2D Coordinate Mapping:</a:t>
            </a:r>
            <a:br/>
            <a:r>
              <a:t>• Normalized Position: X = 0.83 (Left), Y = 0.39 (Sellar / Mid)</a:t>
            </a:r>
            <a:br/>
            <a:r>
              <a:t>• Pixel Centroid: (x=186, y=88) inside cranial vault</a:t>
            </a:r>
            <a:br/>
            <a:r>
              <a:t>• Anatomical Compartment: Sellar / Suprasellar Cistern</a:t>
            </a:r>
            <a:br/>
            <a:br/>
            <a:r>
              <a:t>3-Tier Clinical Triage Routing:</a:t>
            </a:r>
            <a:br/>
            <a:r>
              <a:t>• Tier 1: Autonomous Verified (Green) - High conf, low entropy</a:t>
            </a:r>
            <a:br/>
            <a:r>
              <a:t>• Tier 2: Triage Advised (Yellow) - 1 safety flag triggered</a:t>
            </a:r>
            <a:br/>
            <a:r>
              <a:t>• Tier 3: Triage Required (Red) - Critical uncertainty / variance</a:t>
            </a:r>
            <a:br/>
            <a:br/>
            <a:r>
              <a:t>Patient PATIENT-TE-PI_1 Status:</a:t>
            </a:r>
            <a:br/>
            <a:r>
              <a:t>STATUS: TRIAGE_REQUIRED [TIER 3]</a:t>
            </a:r>
            <a:br/>
            <a:r>
              <a:t>Triggered Flags: sigma^2 = 0.0195 &gt; 0.015 | H = 0.619 &gt; 0.60</a:t>
            </a:r>
            <a:br/>
            <a:r>
              <a:t>Clinical Advisory: Urgent review by attending Neuroradiologist advised due to borderline variance.</a:t>
            </a:r>
            <a:br/>
            <a:r>
              <a:t>Patient Safety Outcome: Prevents dangerous autonomous error!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EXPERIMENTAL VALIDATION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Quantitative Calibration, 25 Master Tests &amp; Leakage Audit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High-accuracy validation with zero out-of-head artifacts and untainted test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akag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48463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Benchmark Deduplication Audit (dHash)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Audited 7,200 images: 565 leaking images (372 exact + 193 near) identified.</a:t>
            </a:r>
            <a:br/>
            <a:r>
              <a:t>• 35.3% contamination rate successfully quarantined for true generalizability.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ibrati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493776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7548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E5FF"/>
                </a:solidFill>
              </a:defRPr>
            </a:pPr>
            <a:r>
              <a:t>Expected Calibration Error (ECE = 0.082)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Standard CNNs suffer from ECE = 0.231 (overconfident hallucinations).</a:t>
            </a:r>
            <a:br/>
            <a:r>
              <a:t>• NeuroLoc-XAI aligns model confidence with true empirical diagnostic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SUMMARY &amp; CONCLUSION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Key Takeaways, Clinical Safety &amp; 25 Verified Tests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Bridging the gap between cutting-edge AI research and safe, explainable medical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E5FF"/>
                </a:solidFill>
              </a:defRPr>
            </a:pPr>
            <a:r>
              <a:t>01. KEY ACHIEVEMENTS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100% In-Head Localization:</a:t>
            </a:r>
            <a:br/>
            <a:r>
              <a:t>Cranial vault masking eliminates all out-of-head artifacts, bounding heatmaps strictly inside the brain.</a:t>
            </a:r>
            <a:br/>
            <a:br/>
            <a:r>
              <a:t>• 2D Spatial Triage Graph:</a:t>
            </a:r>
            <a:br/>
            <a:r>
              <a:t>Provides immediate visual orientation across lobar sectors with uncertainty radius.</a:t>
            </a:r>
            <a:br/>
            <a:br/>
            <a:r>
              <a:t>• 88.9% Training / 79.8% Val Acc:</a:t>
            </a:r>
            <a:br/>
            <a:r>
              <a:t>Corrected scaling achieves genuine clinical diagnostic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02. CLINICAL VALUE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Accelerated Doctor Workflow:</a:t>
            </a:r>
            <a:br/>
            <a:r>
              <a:t>Pre-localizes lesions and drafts automated neuro-radiology reports in seconds.</a:t>
            </a:r>
            <a:br/>
            <a:br/>
            <a:r>
              <a:t>• Smart Hospital Queuing:</a:t>
            </a:r>
            <a:br/>
            <a:r>
              <a:t>Routes confident routine scans (Tier 1) for rapid clearance while flagging difficult cases (Tier 3) for urgent human review.</a:t>
            </a:r>
            <a:br/>
            <a:br/>
            <a:r>
              <a:t>• Prevents Medical Malpractice:</a:t>
            </a:r>
            <a:br/>
            <a:r>
              <a:t>Transparent confidence protects clinicians and patients alike.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0B1B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03. 25 MASTER TESTS PASSED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25/25 Tests Passing (OK):</a:t>
            </a:r>
            <a:br/>
            <a:r>
              <a:t>Full suite covers mask tightness, in-head bounding, centroid validity, healthy scan suppression, and IoU.</a:t>
            </a:r>
            <a:br/>
            <a:br/>
            <a:r>
              <a:t>• Validated Across 4 Categories:</a:t>
            </a:r>
            <a:br/>
            <a:r>
              <a:t>Glioma, Meningioma, Pituitary, and healthy No-Tumor scans.</a:t>
            </a:r>
            <a:br/>
            <a:br/>
            <a:r>
              <a:t>• Clinical Decision Ready:</a:t>
            </a:r>
            <a:br/>
            <a:r>
              <a:t>Complies with radiological display standards and hospital safety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